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1" r:id="rId5"/>
    <p:sldId id="271" r:id="rId6"/>
    <p:sldId id="272" r:id="rId7"/>
    <p:sldId id="260" r:id="rId8"/>
    <p:sldId id="276" r:id="rId9"/>
    <p:sldId id="266" r:id="rId10"/>
    <p:sldId id="273" r:id="rId11"/>
    <p:sldId id="270" r:id="rId12"/>
    <p:sldId id="258" r:id="rId13"/>
    <p:sldId id="274" r:id="rId14"/>
    <p:sldId id="275" r:id="rId15"/>
    <p:sldId id="265" r:id="rId16"/>
    <p:sldId id="267" r:id="rId17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EF534C-5E0B-4E2F-9E1C-F79F351DE1C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0959A-AB48-4965-BF67-736A506C1F27}"/>
              </a:ext>
            </a:extLst>
          </p:cNvPr>
          <p:cNvSpPr txBox="1"/>
          <p:nvPr/>
        </p:nvSpPr>
        <p:spPr>
          <a:xfrm>
            <a:off x="3535764" y="1883329"/>
            <a:ext cx="59630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Supply Chain Data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39BD0-C933-C24D-76AD-4F3F65689E02}"/>
              </a:ext>
            </a:extLst>
          </p:cNvPr>
          <p:cNvSpPr txBox="1"/>
          <p:nvPr/>
        </p:nvSpPr>
        <p:spPr>
          <a:xfrm>
            <a:off x="4368278" y="4241340"/>
            <a:ext cx="3455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November 20, 2025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88062A-FDF1-420A-8A0E-325FDC024A40}"/>
              </a:ext>
            </a:extLst>
          </p:cNvPr>
          <p:cNvSpPr txBox="1"/>
          <p:nvPr/>
        </p:nvSpPr>
        <p:spPr>
          <a:xfrm>
            <a:off x="2440390" y="2830153"/>
            <a:ext cx="77681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Focus: Analyzing supply chain data to extract insights and provide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81618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7744-757B-5351-B812-6E3CCB157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541278-9DF3-2547-8E0D-B33DBF06D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8289" y="1808525"/>
            <a:ext cx="7035421" cy="3423830"/>
          </a:xfrm>
        </p:spPr>
        <p:txBody>
          <a:bodyPr>
            <a:noAutofit/>
          </a:bodyPr>
          <a:lstStyle/>
          <a:p>
            <a:r>
              <a:rPr lang="en-US" sz="4400" b="1" dirty="0"/>
              <a:t>Prepared by:</a:t>
            </a:r>
          </a:p>
          <a:p>
            <a:r>
              <a:rPr lang="en-US" sz="3600" dirty="0"/>
              <a:t>Islam </a:t>
            </a:r>
            <a:r>
              <a:rPr lang="en-US" sz="3600" dirty="0" err="1"/>
              <a:t>Nabih</a:t>
            </a:r>
            <a:r>
              <a:rPr lang="en-US" sz="3600" dirty="0"/>
              <a:t> Yusuf</a:t>
            </a:r>
          </a:p>
          <a:p>
            <a:r>
              <a:rPr lang="en-US" sz="3600" dirty="0"/>
              <a:t>Bassent Magdy Youness Said Ahmed</a:t>
            </a:r>
          </a:p>
          <a:p>
            <a:r>
              <a:rPr lang="en-US" sz="3600" dirty="0"/>
              <a:t>Nancy Magdy Youness Said Ahmed</a:t>
            </a:r>
          </a:p>
          <a:p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E9635E-479B-B611-CEA0-797229E2ECF3}"/>
              </a:ext>
            </a:extLst>
          </p:cNvPr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5FF2A-2BCB-4CDD-152B-A44822EAAAD6}"/>
              </a:ext>
            </a:extLst>
          </p:cNvPr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EF534C-5E0B-4E2F-9E1C-F79F351DE1C6.jpeg">
            <a:extLst>
              <a:ext uri="{FF2B5EF4-FFF2-40B4-BE49-F238E27FC236}">
                <a16:creationId xmlns:a16="http://schemas.microsoft.com/office/drawing/2014/main" id="{1A2AE987-025D-9CF1-65A8-48A07DB7C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CCC65B-A467-1B7D-32F2-68EE3C984E66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10862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DD86C-A57D-EC41-99B6-1BD13BF0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C56F38-82AF-F063-73BD-7BC9F66F9A22}"/>
              </a:ext>
            </a:extLst>
          </p:cNvPr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997992-6B59-0FC3-FF5E-988DC15FFBA9}"/>
              </a:ext>
            </a:extLst>
          </p:cNvPr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EF534C-5E0B-4E2F-9E1C-F79F351DE1C6.jpeg">
            <a:extLst>
              <a:ext uri="{FF2B5EF4-FFF2-40B4-BE49-F238E27FC236}">
                <a16:creationId xmlns:a16="http://schemas.microsoft.com/office/drawing/2014/main" id="{3E1AF682-2527-23F0-5B15-528DE255A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136DF9-A1EB-AD1B-EE31-2F28E7CD93DE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3430D-9C93-0F43-0DC8-551CE036DAEE}"/>
              </a:ext>
            </a:extLst>
          </p:cNvPr>
          <p:cNvSpPr txBox="1"/>
          <p:nvPr/>
        </p:nvSpPr>
        <p:spPr>
          <a:xfrm>
            <a:off x="5108243" y="705546"/>
            <a:ext cx="23161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The Idea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B5DE1-240F-0E0C-D832-76BA6F3AEF80}"/>
              </a:ext>
            </a:extLst>
          </p:cNvPr>
          <p:cNvSpPr txBox="1"/>
          <p:nvPr/>
        </p:nvSpPr>
        <p:spPr>
          <a:xfrm>
            <a:off x="800355" y="1630235"/>
            <a:ext cx="1059128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Our project aims to analyze the full Supply Chain cycle to identify key performance trends across suppliers, products, and manufacturing.</a:t>
            </a:r>
            <a:br>
              <a:rPr lang="en-US" sz="3000" dirty="0"/>
            </a:br>
            <a:r>
              <a:rPr lang="en-US" sz="3000" dirty="0"/>
              <a:t>The goal is to understand: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Which suppliers deliver the highest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Which products generate the most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Where delays, high costs, or defects occur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How transportation and lead time affect quality and performance</a:t>
            </a:r>
          </a:p>
          <a:p>
            <a:r>
              <a:rPr lang="en-US" sz="3000" dirty="0"/>
              <a:t>This analysis supports better decision-making in sourcing, production, and logistics.</a:t>
            </a:r>
          </a:p>
        </p:txBody>
      </p:sp>
    </p:spTree>
    <p:extLst>
      <p:ext uri="{BB962C8B-B14F-4D97-AF65-F5344CB8AC3E}">
        <p14:creationId xmlns:p14="http://schemas.microsoft.com/office/powerpoint/2010/main" val="140642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2B37BE-F0F7-6917-3A4B-A33779A5FF29}"/>
              </a:ext>
            </a:extLst>
          </p:cNvPr>
          <p:cNvSpPr txBox="1"/>
          <p:nvPr/>
        </p:nvSpPr>
        <p:spPr>
          <a:xfrm>
            <a:off x="707053" y="1392317"/>
            <a:ext cx="1077789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- Analyze supplier performance in terms of quantity supplied, revenue contribution, shipping cost, and profitability.</a:t>
            </a:r>
          </a:p>
          <a:p>
            <a:r>
              <a:rPr lang="en-US" sz="3000" dirty="0"/>
              <a:t>- Study product movement, lead times, demand patterns, and shipping behavior.</a:t>
            </a:r>
          </a:p>
          <a:p>
            <a:r>
              <a:rPr lang="en-US" sz="3000" dirty="0"/>
              <a:t>- Evaluate manufacturing performance through production volume, defect rates, quality impact factors, and transportation influence.</a:t>
            </a:r>
          </a:p>
          <a:p>
            <a:r>
              <a:rPr lang="en-US" sz="3000" dirty="0"/>
              <a:t>- Identify bottlenecks and improvement opportunities across the supply chain.</a:t>
            </a:r>
          </a:p>
          <a:p>
            <a:r>
              <a:rPr lang="en-US" sz="3000" dirty="0"/>
              <a:t>- Provide actionable insights that enhance efficiency, reduce delays, and improve product quality.</a:t>
            </a:r>
          </a:p>
          <a:p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4B29C-6A2B-7087-EE97-7D05D54F36C8}"/>
              </a:ext>
            </a:extLst>
          </p:cNvPr>
          <p:cNvSpPr txBox="1"/>
          <p:nvPr/>
        </p:nvSpPr>
        <p:spPr>
          <a:xfrm>
            <a:off x="5353903" y="647879"/>
            <a:ext cx="14841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Goals</a:t>
            </a:r>
            <a:endParaRPr lang="en-US" sz="440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EF534C-5E0B-4E2F-9E1C-F79F351DE1C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4998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AAC7-126E-805A-6D89-3E01E5E1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0D96EC-B16E-CE97-9D78-921AF574F893}"/>
              </a:ext>
            </a:extLst>
          </p:cNvPr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1C889-AC8B-66EF-14BA-D692FA71E93C}"/>
              </a:ext>
            </a:extLst>
          </p:cNvPr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EF534C-5E0B-4E2F-9E1C-F79F351DE1C6.jpeg">
            <a:extLst>
              <a:ext uri="{FF2B5EF4-FFF2-40B4-BE49-F238E27FC236}">
                <a16:creationId xmlns:a16="http://schemas.microsoft.com/office/drawing/2014/main" id="{0E5B21C8-9929-5F69-5C83-FC26610A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393AA13-930D-59F9-44D6-1D93BA3F373B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204FF-1A9C-4A20-5944-3FF8F5ED3F08}"/>
              </a:ext>
            </a:extLst>
          </p:cNvPr>
          <p:cNvSpPr txBox="1"/>
          <p:nvPr/>
        </p:nvSpPr>
        <p:spPr>
          <a:xfrm>
            <a:off x="3426441" y="731520"/>
            <a:ext cx="5339118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300" b="1" dirty="0"/>
              <a:t>What We Focused 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79F13-5BA6-4FF0-4D46-CBD932E95A68}"/>
              </a:ext>
            </a:extLst>
          </p:cNvPr>
          <p:cNvSpPr txBox="1"/>
          <p:nvPr/>
        </p:nvSpPr>
        <p:spPr>
          <a:xfrm>
            <a:off x="1089091" y="1895802"/>
            <a:ext cx="1001381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We focused on analyzing the core Supply Chain KPIs including:</a:t>
            </a:r>
          </a:p>
          <a:p>
            <a:r>
              <a:rPr lang="en-US" sz="3000" dirty="0"/>
              <a:t>- Supplier performance (quantity, revenue, profit, shipping cost)</a:t>
            </a:r>
          </a:p>
          <a:p>
            <a:r>
              <a:rPr lang="en-US" sz="3000" dirty="0"/>
              <a:t>- Product performance (lead time, cost, demand, shipping time)</a:t>
            </a:r>
          </a:p>
          <a:p>
            <a:r>
              <a:rPr lang="en-US" sz="3000" dirty="0"/>
              <a:t>- Manufacturing metrics (defect rate, production volume, routes, quality vs cost)</a:t>
            </a:r>
          </a:p>
          <a:p>
            <a:r>
              <a:rPr lang="en-US" sz="3000" dirty="0"/>
              <a:t>- Transportation impact on quality and delivery</a:t>
            </a:r>
          </a:p>
          <a:p>
            <a:r>
              <a:rPr lang="en-US" sz="3000" dirty="0"/>
              <a:t>- Relationship between Lead Time &amp; Defects</a:t>
            </a:r>
          </a:p>
          <a:p>
            <a:r>
              <a:rPr lang="en-US" sz="3000" dirty="0"/>
              <a:t>The main focus was identifying patterns that affect cost, quality,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243662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6531B6-CEE6-7CB7-DFE3-D7910B709E84}"/>
              </a:ext>
            </a:extLst>
          </p:cNvPr>
          <p:cNvSpPr txBox="1"/>
          <p:nvPr/>
        </p:nvSpPr>
        <p:spPr>
          <a:xfrm>
            <a:off x="4255256" y="654671"/>
            <a:ext cx="36814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+mn-lt"/>
              </a:rPr>
              <a:t>Data Overview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2B6ED-680C-3DD9-05CE-63B2C231D552}"/>
              </a:ext>
            </a:extLst>
          </p:cNvPr>
          <p:cNvSpPr txBox="1"/>
          <p:nvPr/>
        </p:nvSpPr>
        <p:spPr>
          <a:xfrm>
            <a:off x="320718" y="1783080"/>
            <a:ext cx="1155055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- The dataset covers three main processes: Suppliers, Products, and Manufacturing.</a:t>
            </a:r>
          </a:p>
          <a:p>
            <a:r>
              <a:rPr lang="en-US" sz="3000" dirty="0"/>
              <a:t>- Data includes quantities, revenue, shipping cost, locations, defect rates, and timelines.</a:t>
            </a:r>
          </a:p>
          <a:p>
            <a:r>
              <a:rPr lang="en-US" sz="3000" dirty="0"/>
              <a:t>- No cleaning was required; all data was ready for analysis.</a:t>
            </a:r>
          </a:p>
          <a:p>
            <a:r>
              <a:rPr lang="en-US" sz="3000" dirty="0"/>
              <a:t>- We developed </a:t>
            </a:r>
            <a:r>
              <a:rPr lang="en-US" sz="3000" b="1" dirty="0"/>
              <a:t>DAX measures</a:t>
            </a:r>
            <a:r>
              <a:rPr lang="en-US" sz="3000" dirty="0"/>
              <a:t> to calculate KPIs such as revenue, profit, defect ratio, lead time, shipping time, and delay 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EF534C-5E0B-4E2F-9E1C-F79F351DE1C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12956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65AF-AA21-B599-B881-895660912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75EBB5-0E06-A1D1-B327-E08D7591719A}"/>
              </a:ext>
            </a:extLst>
          </p:cNvPr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18BFCE-B66B-583D-02CB-6D438592CA04}"/>
              </a:ext>
            </a:extLst>
          </p:cNvPr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EF534C-5E0B-4E2F-9E1C-F79F351DE1C6.jpeg">
            <a:extLst>
              <a:ext uri="{FF2B5EF4-FFF2-40B4-BE49-F238E27FC236}">
                <a16:creationId xmlns:a16="http://schemas.microsoft.com/office/drawing/2014/main" id="{47A185B1-8A44-B7FF-BC18-B0C630477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F387604-F587-1C4E-FE70-50F64110F68C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FD6F6-0B05-CB31-955A-D058105FA830}"/>
              </a:ext>
            </a:extLst>
          </p:cNvPr>
          <p:cNvSpPr txBox="1"/>
          <p:nvPr/>
        </p:nvSpPr>
        <p:spPr>
          <a:xfrm>
            <a:off x="3347739" y="565036"/>
            <a:ext cx="54965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Key Insights Summary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8689E-E0D2-60D9-8007-F314285C62E9}"/>
              </a:ext>
            </a:extLst>
          </p:cNvPr>
          <p:cNvSpPr txBox="1"/>
          <p:nvPr/>
        </p:nvSpPr>
        <p:spPr>
          <a:xfrm>
            <a:off x="58003" y="1396593"/>
            <a:ext cx="1207599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/>
              <a:t>- Supplier 1</a:t>
            </a:r>
            <a:r>
              <a:rPr lang="en-US" sz="2700" dirty="0"/>
              <a:t> has the highest performance in revenue, profit, and delivered quantity.</a:t>
            </a:r>
          </a:p>
          <a:p>
            <a:r>
              <a:rPr lang="en-US" sz="2700" b="1" dirty="0"/>
              <a:t>- Skincare</a:t>
            </a:r>
            <a:r>
              <a:rPr lang="en-US" sz="2700" dirty="0"/>
              <a:t> products are the top-selling and highest-profit category but also have the </a:t>
            </a:r>
            <a:r>
              <a:rPr lang="en-US" sz="2700" b="1" dirty="0"/>
              <a:t>highest defect rate</a:t>
            </a:r>
            <a:r>
              <a:rPr lang="en-US" sz="2700" dirty="0"/>
              <a:t>.</a:t>
            </a:r>
          </a:p>
          <a:p>
            <a:r>
              <a:rPr lang="en-US" sz="2700" b="1" dirty="0"/>
              <a:t>- Cosmetics</a:t>
            </a:r>
            <a:r>
              <a:rPr lang="en-US" sz="2700" dirty="0"/>
              <a:t> have the </a:t>
            </a:r>
            <a:r>
              <a:rPr lang="en-US" sz="2700" b="1" dirty="0"/>
              <a:t>lowest cost</a:t>
            </a:r>
            <a:r>
              <a:rPr lang="en-US" sz="2700" dirty="0"/>
              <a:t> and </a:t>
            </a:r>
            <a:r>
              <a:rPr lang="en-US" sz="2700" b="1" dirty="0"/>
              <a:t>lowest defect rate</a:t>
            </a:r>
            <a:r>
              <a:rPr lang="en-US" sz="2700" dirty="0"/>
              <a:t>, making them the most stable category.</a:t>
            </a:r>
          </a:p>
          <a:p>
            <a:r>
              <a:rPr lang="en-US" sz="2700" b="1" dirty="0"/>
              <a:t>- Lead Time</a:t>
            </a:r>
            <a:r>
              <a:rPr lang="en-US" sz="2700" dirty="0"/>
              <a:t> increases defect rates; longer production or delivery cycles = higher defects.</a:t>
            </a:r>
          </a:p>
          <a:p>
            <a:r>
              <a:rPr lang="en-US" sz="2700" b="1" dirty="0"/>
              <a:t>- Transportation mode</a:t>
            </a:r>
            <a:r>
              <a:rPr lang="en-US" sz="2700" dirty="0"/>
              <a:t> affects quality: Road shows higher issues compared to Rail &amp; Sea.</a:t>
            </a:r>
          </a:p>
          <a:p>
            <a:r>
              <a:rPr lang="en-US" sz="2700" b="1" dirty="0"/>
              <a:t>- Route A</a:t>
            </a:r>
            <a:r>
              <a:rPr lang="en-US" sz="2700" dirty="0"/>
              <a:t> has the highest production/shipment volume.</a:t>
            </a:r>
          </a:p>
          <a:p>
            <a:r>
              <a:rPr lang="en-US" sz="2700" dirty="0"/>
              <a:t>- The </a:t>
            </a:r>
            <a:r>
              <a:rPr lang="en-US" sz="2700" b="1" dirty="0"/>
              <a:t>most requested quantity</a:t>
            </a:r>
            <a:r>
              <a:rPr lang="en-US" sz="2700" dirty="0"/>
              <a:t> comes from Skincare, matching the highest demand trend.</a:t>
            </a:r>
          </a:p>
        </p:txBody>
      </p:sp>
    </p:spTree>
    <p:extLst>
      <p:ext uri="{BB962C8B-B14F-4D97-AF65-F5344CB8AC3E}">
        <p14:creationId xmlns:p14="http://schemas.microsoft.com/office/powerpoint/2010/main" val="492327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F082A-04E7-71F7-B202-0AE9370EC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B85E-4750-56DC-2F25-B6C3D5139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56995"/>
            <a:ext cx="9144000" cy="801971"/>
          </a:xfrm>
        </p:spPr>
        <p:txBody>
          <a:bodyPr>
            <a:normAutofit/>
          </a:bodyPr>
          <a:lstStyle/>
          <a:p>
            <a:r>
              <a:rPr lang="en-US" sz="4400" b="1"/>
              <a:t>Final Project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4FED2-306B-3E64-8DED-1F4306D8F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20192"/>
            <a:ext cx="9144000" cy="2078843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B956C2-9BBB-E2DA-7315-9CCC30E73345}"/>
              </a:ext>
            </a:extLst>
          </p:cNvPr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665DA-2217-AE80-E855-55953F9B3DB6}"/>
              </a:ext>
            </a:extLst>
          </p:cNvPr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EF534C-5E0B-4E2F-9E1C-F79F351DE1C6.jpeg">
            <a:extLst>
              <a:ext uri="{FF2B5EF4-FFF2-40B4-BE49-F238E27FC236}">
                <a16:creationId xmlns:a16="http://schemas.microsoft.com/office/drawing/2014/main" id="{20188059-F124-F1C3-59AE-7999E0A0B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58ABBA-E887-86D0-B69D-3D3B2E4AA893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Add-in 7">
                <a:extLst>
                  <a:ext uri="{FF2B5EF4-FFF2-40B4-BE49-F238E27FC236}">
                    <a16:creationId xmlns:a16="http://schemas.microsoft.com/office/drawing/2014/main" id="{BB986F43-DD2D-549D-9DA8-0DFA260CE8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7020151"/>
                  </p:ext>
                </p:extLst>
              </p:nvPr>
            </p:nvGraphicFramePr>
            <p:xfrm>
              <a:off x="1248770" y="594360"/>
              <a:ext cx="9694460" cy="58521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8" name="Add-in 7">
                <a:extLst>
                  <a:ext uri="{FF2B5EF4-FFF2-40B4-BE49-F238E27FC236}">
                    <a16:creationId xmlns:a16="http://schemas.microsoft.com/office/drawing/2014/main" id="{BB986F43-DD2D-549D-9DA8-0DFA260CE88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770" y="594360"/>
                <a:ext cx="9694460" cy="585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6002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CCCF87-693F-E566-2A84-15E0E58688C9}"/>
              </a:ext>
            </a:extLst>
          </p:cNvPr>
          <p:cNvSpPr txBox="1"/>
          <p:nvPr/>
        </p:nvSpPr>
        <p:spPr>
          <a:xfrm>
            <a:off x="3833314" y="731520"/>
            <a:ext cx="45253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EF534C-5E0B-4E2F-9E1C-F79F351DE1C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04BB296-E5B8-F6E6-25FD-5FE9574F9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425" y="1623149"/>
            <a:ext cx="1008114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dirty="0"/>
              <a:t>- Improve quality control for </a:t>
            </a:r>
            <a:r>
              <a:rPr lang="en-US" sz="3000" b="1" dirty="0"/>
              <a:t>Skincare</a:t>
            </a:r>
            <a:r>
              <a:rPr lang="en-US" sz="3000" dirty="0"/>
              <a:t>, especially during production &amp; transportation.</a:t>
            </a:r>
          </a:p>
          <a:p>
            <a:r>
              <a:rPr lang="en-US" sz="3000" dirty="0"/>
              <a:t>- Increase sourcing volume from </a:t>
            </a:r>
            <a:r>
              <a:rPr lang="en-US" sz="3000" b="1" dirty="0"/>
              <a:t>Supplier 1</a:t>
            </a:r>
            <a:r>
              <a:rPr lang="en-US" sz="3000" dirty="0"/>
              <a:t> due to strong performance.</a:t>
            </a:r>
          </a:p>
          <a:p>
            <a:r>
              <a:rPr lang="en-US" sz="3000" dirty="0"/>
              <a:t>- Shift more shipments to </a:t>
            </a:r>
            <a:r>
              <a:rPr lang="en-US" sz="3000" b="1" dirty="0"/>
              <a:t>Rail/Sea</a:t>
            </a:r>
            <a:r>
              <a:rPr lang="en-US" sz="3000" dirty="0"/>
              <a:t> to reduce cost &amp; defects.</a:t>
            </a:r>
          </a:p>
          <a:p>
            <a:r>
              <a:rPr lang="en-US" sz="3000" dirty="0"/>
              <a:t>- Optimize </a:t>
            </a:r>
            <a:r>
              <a:rPr lang="en-US" sz="3000" b="1" dirty="0"/>
              <a:t>Lead Time</a:t>
            </a:r>
            <a:r>
              <a:rPr lang="en-US" sz="3000" dirty="0"/>
              <a:t> by reducing bottlenecks in manufacturing steps.</a:t>
            </a:r>
          </a:p>
          <a:p>
            <a:r>
              <a:rPr lang="en-US" sz="3000" dirty="0"/>
              <a:t>- Expand production of </a:t>
            </a:r>
            <a:r>
              <a:rPr lang="en-US" sz="3000" b="1" dirty="0"/>
              <a:t>Cosmetics</a:t>
            </a:r>
            <a:r>
              <a:rPr lang="en-US" sz="3000" dirty="0"/>
              <a:t> because they show the best stability and lowest defects.</a:t>
            </a:r>
          </a:p>
          <a:p>
            <a:r>
              <a:rPr lang="en-US" sz="3000" dirty="0"/>
              <a:t>- Review </a:t>
            </a:r>
            <a:r>
              <a:rPr lang="en-US" sz="3000" b="1" dirty="0"/>
              <a:t>Route A</a:t>
            </a:r>
            <a:r>
              <a:rPr lang="en-US" sz="3000" dirty="0"/>
              <a:t> capacity since it handles the highest volume.</a:t>
            </a:r>
          </a:p>
        </p:txBody>
      </p:sp>
    </p:spTree>
    <p:extLst>
      <p:ext uri="{BB962C8B-B14F-4D97-AF65-F5344CB8AC3E}">
        <p14:creationId xmlns:p14="http://schemas.microsoft.com/office/powerpoint/2010/main" val="2581368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E2BD1-8D1F-246A-D698-F4775D99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5FF35D-B0E0-64E2-DCC9-B4BFB5E30818}"/>
              </a:ext>
            </a:extLst>
          </p:cNvPr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5DC067-45C0-9E41-CF75-638A9AC28AD6}"/>
              </a:ext>
            </a:extLst>
          </p:cNvPr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EF534C-5E0B-4E2F-9E1C-F79F351DE1C6.jpeg">
            <a:extLst>
              <a:ext uri="{FF2B5EF4-FFF2-40B4-BE49-F238E27FC236}">
                <a16:creationId xmlns:a16="http://schemas.microsoft.com/office/drawing/2014/main" id="{047040FC-5C8B-C43F-8C0B-CBF40B73F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53A03B-525A-2967-151A-1EC531958E3E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0F17F3-640D-B568-F215-964755C01C35}"/>
              </a:ext>
            </a:extLst>
          </p:cNvPr>
          <p:cNvSpPr txBox="1"/>
          <p:nvPr/>
        </p:nvSpPr>
        <p:spPr>
          <a:xfrm>
            <a:off x="4200667" y="731520"/>
            <a:ext cx="37906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Fixes We Made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898D05-4C78-891E-A6F5-F458FC69822E}"/>
              </a:ext>
            </a:extLst>
          </p:cNvPr>
          <p:cNvSpPr txBox="1"/>
          <p:nvPr/>
        </p:nvSpPr>
        <p:spPr>
          <a:xfrm>
            <a:off x="1177687" y="1783080"/>
            <a:ext cx="98366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- Created DAX measures for all KPIs (revenue, profit, lead time, defect ratio, shipping time, delay rate).</a:t>
            </a:r>
          </a:p>
          <a:p>
            <a:r>
              <a:rPr lang="en-US" sz="3000" dirty="0"/>
              <a:t>- Adjusted and validated relationships between suppliers, products, and manufacturing tables.</a:t>
            </a:r>
          </a:p>
          <a:p>
            <a:r>
              <a:rPr lang="en-US" sz="3000" dirty="0"/>
              <a:t>- Added calculated fields where needed to support analysis.</a:t>
            </a:r>
          </a:p>
          <a:p>
            <a:r>
              <a:rPr lang="en-US" sz="3000" dirty="0"/>
              <a:t>- Fixed visual-level filters to ensure each chart reflects the correct segment.</a:t>
            </a:r>
          </a:p>
          <a:p>
            <a:r>
              <a:rPr lang="en-US" sz="3000" dirty="0"/>
              <a:t>- Standardized logic for KPIs to match the updated questions.</a:t>
            </a:r>
          </a:p>
        </p:txBody>
      </p:sp>
    </p:spTree>
    <p:extLst>
      <p:ext uri="{BB962C8B-B14F-4D97-AF65-F5344CB8AC3E}">
        <p14:creationId xmlns:p14="http://schemas.microsoft.com/office/powerpoint/2010/main" val="3905731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B163-4BF1-37BA-560D-A2FD874B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753C7B-DE1C-FD3C-7B1A-3CBA6ED869A9}"/>
              </a:ext>
            </a:extLst>
          </p:cNvPr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C83512-00C2-C373-657E-CECD4335F51E}"/>
              </a:ext>
            </a:extLst>
          </p:cNvPr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EF534C-5E0B-4E2F-9E1C-F79F351DE1C6.jpeg">
            <a:extLst>
              <a:ext uri="{FF2B5EF4-FFF2-40B4-BE49-F238E27FC236}">
                <a16:creationId xmlns:a16="http://schemas.microsoft.com/office/drawing/2014/main" id="{881DC2A6-50F2-9212-C5DC-665201B73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718885A-D9E5-684B-B77C-5423DF8F604A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7CEFA-A6DD-8186-64AD-110A56B31C61}"/>
              </a:ext>
            </a:extLst>
          </p:cNvPr>
          <p:cNvSpPr txBox="1"/>
          <p:nvPr/>
        </p:nvSpPr>
        <p:spPr>
          <a:xfrm>
            <a:off x="4494094" y="731520"/>
            <a:ext cx="3203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Participation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7DA1C0-421C-BC53-1FC0-F0089A5B039C}"/>
              </a:ext>
            </a:extLst>
          </p:cNvPr>
          <p:cNvSpPr txBox="1"/>
          <p:nvPr/>
        </p:nvSpPr>
        <p:spPr>
          <a:xfrm>
            <a:off x="1020739" y="1908478"/>
            <a:ext cx="1015052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- We collaborated together on the </a:t>
            </a:r>
            <a:r>
              <a:rPr lang="en-US" sz="3000" b="1" dirty="0"/>
              <a:t>Overview</a:t>
            </a:r>
            <a:r>
              <a:rPr lang="en-US" sz="3000" dirty="0"/>
              <a:t> analysis and dashboard structure.</a:t>
            </a:r>
          </a:p>
          <a:p>
            <a:r>
              <a:rPr lang="en-US" sz="3000" b="1" dirty="0"/>
              <a:t>- Islam</a:t>
            </a:r>
            <a:r>
              <a:rPr lang="en-US" sz="3000" dirty="0"/>
              <a:t> handled the </a:t>
            </a:r>
            <a:r>
              <a:rPr lang="en-US" sz="3000" b="1" dirty="0"/>
              <a:t>Supplier</a:t>
            </a:r>
            <a:r>
              <a:rPr lang="en-US" sz="3000" dirty="0"/>
              <a:t> analysis.</a:t>
            </a:r>
          </a:p>
          <a:p>
            <a:r>
              <a:rPr lang="en-US" sz="3000" b="1" dirty="0"/>
              <a:t>- Bassent</a:t>
            </a:r>
            <a:r>
              <a:rPr lang="en-US" sz="3000" dirty="0"/>
              <a:t> handled the </a:t>
            </a:r>
            <a:r>
              <a:rPr lang="en-US" sz="3000" b="1" dirty="0"/>
              <a:t>Products</a:t>
            </a:r>
            <a:r>
              <a:rPr lang="en-US" sz="3000" dirty="0"/>
              <a:t> analysis.</a:t>
            </a:r>
          </a:p>
          <a:p>
            <a:r>
              <a:rPr lang="en-US" sz="3000" b="1" dirty="0"/>
              <a:t>- Nancy</a:t>
            </a:r>
            <a:r>
              <a:rPr lang="en-US" sz="3000" dirty="0"/>
              <a:t> handled the </a:t>
            </a:r>
            <a:r>
              <a:rPr lang="en-US" sz="3000" b="1" dirty="0"/>
              <a:t>Manufacturing</a:t>
            </a:r>
            <a:r>
              <a:rPr lang="en-US" sz="3000" dirty="0"/>
              <a:t> analysis.</a:t>
            </a:r>
          </a:p>
          <a:p>
            <a:r>
              <a:rPr lang="en-US" sz="3000" dirty="0"/>
              <a:t>- All team members contributed to the storytelling, insights, recommendations, and presentation design.</a:t>
            </a:r>
          </a:p>
        </p:txBody>
      </p:sp>
    </p:spTree>
    <p:extLst>
      <p:ext uri="{BB962C8B-B14F-4D97-AF65-F5344CB8AC3E}">
        <p14:creationId xmlns:p14="http://schemas.microsoft.com/office/powerpoint/2010/main" val="28891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57FE83-889F-304C-41C9-3EA2AF473E81}"/>
              </a:ext>
            </a:extLst>
          </p:cNvPr>
          <p:cNvSpPr txBox="1"/>
          <p:nvPr/>
        </p:nvSpPr>
        <p:spPr>
          <a:xfrm>
            <a:off x="4623748" y="725680"/>
            <a:ext cx="29445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B7C3B-53D8-7D7D-48B9-78BE1134DC14}"/>
              </a:ext>
            </a:extLst>
          </p:cNvPr>
          <p:cNvSpPr txBox="1"/>
          <p:nvPr/>
        </p:nvSpPr>
        <p:spPr>
          <a:xfrm>
            <a:off x="952926" y="1900761"/>
            <a:ext cx="1028614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The analysis shows major variations in supplier performance, product delivery efficiency, and manufacturing quality.</a:t>
            </a:r>
            <a:br>
              <a:rPr lang="en-US" sz="3000" dirty="0"/>
            </a:br>
            <a:r>
              <a:rPr lang="en-US" sz="3000" dirty="0"/>
              <a:t>By improving sourcing, optimizing shipping routes, and strengthening quality control, the company can reduce cost, decrease delays, and enhance overall supply chain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EF534C-5E0B-4E2F-9E1C-F79F351DE1C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7304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ED900-5AD1-EA4C-0720-9B2F1E525164}"/>
              </a:ext>
            </a:extLst>
          </p:cNvPr>
          <p:cNvSpPr txBox="1"/>
          <p:nvPr/>
        </p:nvSpPr>
        <p:spPr>
          <a:xfrm>
            <a:off x="3968653" y="729473"/>
            <a:ext cx="42546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Q&amp;A / 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FAC88-4863-A7B6-49AB-DCD689B4A894}"/>
              </a:ext>
            </a:extLst>
          </p:cNvPr>
          <p:cNvSpPr txBox="1"/>
          <p:nvPr/>
        </p:nvSpPr>
        <p:spPr>
          <a:xfrm>
            <a:off x="3470794" y="2351782"/>
            <a:ext cx="52504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-Thank you for your attention!</a:t>
            </a:r>
          </a:p>
          <a:p>
            <a:r>
              <a:rPr lang="en-US" sz="3200" dirty="0"/>
              <a:t>-We welcome your 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2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11480"/>
            <a:ext cx="12192000" cy="91440"/>
          </a:xfrm>
          <a:prstGeom prst="rect">
            <a:avLst/>
          </a:prstGeom>
          <a:solidFill>
            <a:srgbClr val="F2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EF534C-5E0B-4E2F-9E1C-F79F351DE1C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45720"/>
            <a:ext cx="1371600" cy="1371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4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41630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A3B4D46A-730E-4F48-89A1-EC56EB417AAD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ZUW/bNhD+K4JeugHGIFESJeUtcTpgQNoFcVBgGILiRJ4cNrKoUZRbN/B/31FyuqZx5rRbajUI4AebPB2/++7TnU6+9qVqmwpWr2GB/oF/pPXVAsyVF/oTvx7W0pjnDHPOZCwLHnDB0ph2dWOVrlv/4Nq3YOZo36i2g8o5osU/LyY+VNUpzN2vEqoWJ36DptU1VOojDsa0ZU2H64mPH5pKG3AuZxYsOrdLMqffBCH8JaITQVi1xBkKO6xixMNMYspTVhSMySzhBZm1g0GPbKuJc90fP9W1BVXTMW5NQpnwMKCPKKNEQBBD6NZLVdmNSbF6+aExFB3FvGocOYdyCbVA6fchGGwHxNf+K4S2M30cL29tzHRnBJ5h2W/VVtkV+dmYt95P7Gd/TYScGk109Xu/G4nG+9XgXx3WYtVvX+r3U4NElPQPgvXkE54pLc21UQKqO5CmuuoW9UMRtV3TVKu34pIYeivBwpew6KvshPX6k+9iuqCVVtXzapPrf2g/H6CKHs70Eox1cireUd4cy3SddhEfrXqij5W5yTibfIH8UUleX9xIjszefSaqDccDvMcl9WLt9vO4SGQiI4YyKrJS8CBIdipzPEqYfNe75XA592YOsaJ8niBI71wtvkmgBZixqPPeoMYj0gyCXDIRSSwDEcgwFAxHUT4PqY9QG/KOsSR+vDPXXfYt0j8UVnIcUM61hcqbWS2u9o7lcAmqgkJVznT/YG50U9HtZVb31ZF9pOsMl1h339Z2wcjN1hjq2rZ701WUiR/zNA/KAFnKY0hLegKNYUxdb3apmoaY9ohRoxyifWvj/2t9UtedfW5+D037pgMiYJhKoJEjSUuWIgty5/tfmVYL0v9tkp2vJOVJkmAMErKwZDIVYlSPfOcG6rbRxvYjm7fQErfpf6fQ2koJNLfi9xdI4+QwkdHBLr5mOFjhsE+H9cNdH/61f6KIksH3G6g65/bFMV0h9fv6hd/Tqdrfaio1hGqG1SCUV7u9uNnUXd8Lrb25cAui1hLpdtYHOhyww3M/EG9cO3xbVdwbt4+h4XuyN8hYJinJLk9YzEsW8SKNknRM0vtUCvr3E0+n5j6PGw9M+CBTlouS50XCIcmLjIEoONtZbRsqtq9hqeZgtblbdZmUMo5RlEkhJRcknSQfyQxDCblpPFPd2qfyEsgaxAU0d1NRCkorlqFweRB5HEVQjCcVD7nh95KPXcVx93hQdS0RjPLouRx9TTnKuCwwzFmWB6EsJWYAwZi65okWfbN/fkj7UR7SPsvYILEyKhlAxLmMOWRFGKU4roH4v9aeZ53tQ2fb61kokjCSAaZBkHFqxkUe7v437Ad68PguWntyWtny5r9XyzYSdWfbBgSeQo1bQqcgoZYuW18R8Hr9NyLdFH2yHgAA&quot;"/>
    <we:property name="creatorSessionId" value="&quot;aff1b0bf-9612-4212-80c1-549221812ae8&quot;"/>
    <we:property name="creatorTenantId" value="&quot;2082de46-1afa-4b64-a440-6558f80e9840&quot;"/>
    <we:property name="creatorUserId" value="&quot;10032004CADC6FF8&quot;"/>
    <we:property name="datasetId" value="&quot;72b30f2a-6043-4a1e-ac53-3b571b79f223&quot;"/>
    <we:property name="embedUrl" value="&quot;/reportEmbed?reportId=7b82c318-8e4b-4ea3-90ec-2f54d5ec40fe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+1ZbW/bNhD+K4K+dAOMQS/WW745TgYMzRvioMAwBMGJPDlsaFGjKLde4P++o2R3TePMbrfUahAgSGzydHzuuUd3OuXe5aKuJCzOYIbugXuo1N0M9J3juwO3XK2dn789HV2+vTkbnR7TsqqMUGXtHty7BvQUzTtRNyCtB1r843rggpQXMLXfCpA1DtwKda1KkOIv7Ixpy+gGlwMXP1ZSabAuJwYMWrdzMqfvdLb/S0gnAjNijhNkplvFMPZTjkmcBHkeBDyN4pzM6s6gRbbRxLpujx+r0oAo6Ri7xqGIYt+jH1aEEQNvCL5dL4Q0K5N8cfyx0hQdxbyoLCsjPoeSIXfbEDTWHeJ79xShbnQbx/GDjYlqNMNLLNqt0gizID8r89r5KfjZXRIhF1oRXe3eueaonV81/tlgyRbt9q36MNZIRHH3wFsOPuEZ09JUacFAPoI0VrKZlbsiqpuqkosbdksM3XAw8CUs+sgbZpz25MeYrmmlFuVUrnL9D+1XHVTWwhnfgjZWTvl7yptlma5TNuLDRUv0kdDrjAeDL5A/K8nL67XkyOz9Z6JacdzBe15Sr5d2PxvmEY94GCAP87RgsedFW5XZHyUMvuvdMppPnYlFLCifJwjcuRKzbxJoDrov6nwyqP6INAUv4wELORYe87jvswB7UT5H1EeoDTlHWBA/zqXtLvsW6e8CJe8HlCtlQDoTo9jd3rGM5iAk5EJa0/2DWetG0u2lF0/VkX2k6xLnWDbf1nZB89VWH+rapnvTVpSBO4yTzCs8DJJ4CEmBGf3pU9eb3IqqIqYdYlQLi2jf2vj/Wh9XZWNem9+uaV91QAT0Ew40ckRJESQYeJn1/a9Mixnp/yHJ1leUxFEU4RA4pH4R8ISxXj3yXWko60pp045szkxx3KT/rUKrpWCoH8TvzpDGyW4io4NtfFV3sMBunw5rh7s2/Hv3RBAlne93IBvr9s0RXcHVh/KN29Ip6t9KKjWEaoKyE8rpdi92NrXXt0Kr1xduQFQbIt1M2kC7A7Z4bgfilWuLb6OKW+P6OTT8RPY6GfMoIdllUTCMiyCM8ySMkj5J71MpaF9MvJya+zpu7JjwTqZBxoo4y6MYoixPA2B5HGytthUV2zOYiykYpR9X3YBzPhwiK6Kc85iRdKKsJzMMJWTdeMaqNi/lJZDRiDOoHqeiYJRWLHxm88CyYRhC3p9U7HLD7yUf24rj9vFANjURjPzwtRx9TTlKY56jnwVp5vm84JgCeH3qmieKtc3+9SHtR3lI+yxjncSKsAgAwjjmwxjS3A8T7NdA/F9rz6vO9qGzzfXMZ5Efcg8Tz0tjasZ55m//b9gP9ODxXbT24rSy4c1/q5ZNJKrG1BUwvIASN4ROQULJbbZ2C3hg8ydy+RX3qf31N/3zxfLbHgAA&quot;"/>
    <we:property name="isFiltersActionButtonVisible" value="false"/>
    <we:property name="isTitleSuggestionsDialogDismissed" value="true"/>
    <we:property name="isVisualContainerHeaderHidden" value="false"/>
    <we:property name="pageDisplayName" value="&quot;Products&quot;"/>
    <we:property name="reportEmbeddedTime" value="&quot;2025-11-20T04:14:10.557Z&quot;"/>
    <we:property name="reportName" value="&quot;Final Project&quot;"/>
    <we:property name="reportState" value="&quot;CONNECTED&quot;"/>
    <we:property name="reportUrl" value="&quot;/links/4XAFgk8gTU?ctid=2082de46-1afa-4b64-a440-6558f80e9840&amp;pbi_source=linkShar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b1e4d6ee-9f6f-43f8-a618-24f3d84da28f"/>
    <ds:schemaRef ds:uri="f577acbf-5b0b-4b4f-9948-268e97f8d3a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1963</TotalTime>
  <Words>739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Project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Bassent Magdy Youness</cp:lastModifiedBy>
  <cp:revision>15</cp:revision>
  <dcterms:created xsi:type="dcterms:W3CDTF">2018-06-07T21:39:02Z</dcterms:created>
  <dcterms:modified xsi:type="dcterms:W3CDTF">2025-11-20T04:35:16Z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